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563EB"/>
                </a:solidFill>
              </a:defRPr>
            </a:pPr>
            <a:r>
              <a:t>GenTwin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F2937"/>
                </a:solidFill>
              </a:defRPr>
            </a:pPr>
            <a:r>
              <a:t>AI-Powered Cybersecurity Digital Twin for Industrial Water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Introduction</a:t>
            </a:r>
          </a:p>
          <a:p>
            <a:pPr>
              <a:lnSpc>
                <a:spcPct val="130000"/>
              </a:lnSpc>
              <a:defRPr sz="1400">
                <a:solidFill>
                  <a:srgbClr val="1F2937"/>
                </a:solidFill>
              </a:defRPr>
            </a:pPr>
            <a:r>
              <a:t>Real-time cyber threat detection and mitigation for critical infrastructure using advanced AI, digital twin simulation, and explainable 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560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Objectives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• Detect novel cyber attacks in real-time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• Simulate attack impact on plant safety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• Provide explainable threat insights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• Enable adaptive defense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Layer 1: Data Collection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SWaT sensor data (51 channels)</a:t>
            </a:r>
            <a:br/>
            <a:r>
              <a:t>Real-time virtual sensors</a:t>
            </a:r>
            <a:br/>
            <a:r>
              <a:t>Normal &amp; attack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Layer 2: ML Models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VAE: Anomaly detection</a:t>
            </a:r>
            <a:br/>
            <a:r>
              <a:t>LSTM-AE: Temporal patterns</a:t>
            </a:r>
            <a:br/>
            <a:r>
              <a:t>CGAN: Attack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Layer 3: Digital Twin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SimPy plant simulation</a:t>
            </a:r>
            <a:br/>
            <a:r>
              <a:t>Physical impact analysis</a:t>
            </a:r>
            <a:br/>
            <a:r>
              <a:t>Safety constraint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Layer 4: Analysis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Security gap discovery</a:t>
            </a:r>
            <a:br/>
            <a:r>
              <a:t>SHAP/LIME explainability</a:t>
            </a:r>
            <a:br/>
            <a:r>
              <a:t>Blindspot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Deep Learning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PyTorch 2.0+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VAE &amp; LSTM Autoencoders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Conditional 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Explainability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SHAP (KernelExplainer)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LIME (Tabular)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Feature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Simulation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SimPy 4.0+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Discrete Event Simulation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Safety Violation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Data Science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Pandas &amp; NumPy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Scikit-learn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NetworkX (Graph Analysis)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260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Visualization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Matplotlib &amp; Seaborn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Plotly (Interactive)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Real-time Dashboards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9260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Innovation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RL Q-Learning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Immunity Scoring</a:t>
            </a:r>
          </a:p>
          <a:p>
            <a:pPr>
              <a:spcBef>
                <a:spcPts val="200"/>
              </a:spcBef>
              <a:defRPr sz="1000">
                <a:solidFill>
                  <a:srgbClr val="1F2937"/>
                </a:solidFill>
              </a:defRPr>
            </a:pPr>
            <a:r>
              <a:t>• DNA Fingerprinting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🎯 RL Adaptive Defense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Q-learning agent that learns optimal mitigation strategies (monitor, alert, isolate, shutdown) based on real-time threat severity levels.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🛡️ Immunity System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Per-stage resilience scoring combining detection capability, impact resistance, and gap density to identify vulnerable plant 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🧬 Cyber DNA Fingerprinting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SHA-256 attack signatures with statistical features for rapid threat identification, deduplication, and similarity-based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⏱️ Predictive Timeline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Chronological incident reconstruction with impact scores, violation counts, and critical gap markers for forensic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Pipeline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737360" cy="100584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Ingestion</a:t>
            </a:r>
          </a:p>
          <a:p>
            <a:r>
              <a:t>SWaT Sensors (51 channels)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6459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18872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Preprocessing</a:t>
            </a:r>
          </a:p>
          <a:p>
            <a:r>
              <a:t>Normalization &amp; Sequencing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79" y="1188720"/>
            <a:ext cx="1737360" cy="100584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 Detection</a:t>
            </a:r>
          </a:p>
          <a:p>
            <a:r>
              <a:t>VAE + LSTM-AE Anomaly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59" y="118872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Attack Generation</a:t>
            </a:r>
          </a:p>
          <a:p>
            <a:r>
              <a:t>CGAN Synthetic Threats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737360" cy="100584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SimPy Simulation</a:t>
            </a:r>
          </a:p>
          <a:p>
            <a:r>
              <a:t>Physical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0175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56032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Gap Discovery</a:t>
            </a:r>
          </a:p>
          <a:p>
            <a:r>
              <a:t>High Impact + Low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0175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79" y="2560320"/>
            <a:ext cx="1737360" cy="100584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Explainability</a:t>
            </a:r>
          </a:p>
          <a:p>
            <a:r>
              <a:t>SHAP + LIME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017520"/>
            <a:ext cx="274320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59" y="256032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Adaptive Defense</a:t>
            </a:r>
          </a:p>
          <a:p>
            <a:r>
              <a:t>RL Policy +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Real-World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🏭 Critical Infrastructure Protection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Water treatment plants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Chemical processing facilities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Power generation systems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Oil &amp; gas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🔒 Cyber-Physical Security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Real-time threat detection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Safety violation prevention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Attack impact mitigation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Compliance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💡 Operational Benefits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Reduced downtime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Lower insurance costs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Regulatory compliance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• Improved incident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155448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1,500+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Synthetic Attack Vectors Generated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Via CGAN for comprehensive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2286000" cy="155448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300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Simulated Attack Scenarios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With physical impact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188720"/>
            <a:ext cx="2286000" cy="155448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50+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Critical Security Gaps Identified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High impact, low detection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7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Analytical Artifacts</a:t>
            </a:r>
          </a:p>
          <a:p>
            <a:pPr algn="ctr">
              <a:spcBef>
                <a:spcPts val="400"/>
              </a:spcBef>
              <a:defRPr sz="900">
                <a:solidFill>
                  <a:srgbClr val="6B7280"/>
                </a:solidFill>
              </a:defRPr>
            </a:pPr>
            <a:r>
              <a:t>Complete threat intelligence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6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Plant Stages Analyzed</a:t>
            </a:r>
          </a:p>
          <a:p>
            <a:pPr algn="ctr">
              <a:spcBef>
                <a:spcPts val="400"/>
              </a:spcBef>
              <a:defRPr sz="900">
                <a:solidFill>
                  <a:srgbClr val="6B7280"/>
                </a:solidFill>
              </a:defRPr>
            </a:pPr>
            <a:r>
              <a:t>Full SWaT process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32004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51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Sensor Channels Monitored</a:t>
            </a:r>
          </a:p>
          <a:p>
            <a:pPr algn="ctr">
              <a:spcBef>
                <a:spcPts val="400"/>
              </a:spcBef>
              <a:defRPr sz="900">
                <a:solidFill>
                  <a:srgbClr val="6B7280"/>
                </a:solidFill>
              </a:defRPr>
            </a:pPr>
            <a:r>
              <a:t>Real-time anomaly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✅ Current Features (Person 1 + 2)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VAE &amp; LSTM-AE anomaly detection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CGAN attack generation (6 stages)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SimPy digital twin simulation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SHAP/LIME explainability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Security gap discovery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RL adaptive defense (Q-learning)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Immunity scoring system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Cyber DNA fingerprinting</a:t>
            </a:r>
          </a:p>
          <a:p>
            <a:pPr>
              <a:spcBef>
                <a:spcPts val="300"/>
              </a:spcBef>
              <a:defRPr sz="1100">
                <a:solidFill>
                  <a:srgbClr val="1F2937"/>
                </a:solidFill>
              </a:defRPr>
            </a:pPr>
            <a:r>
              <a:t>• Incident timeline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🚀 Future Roadmap (Person 3+)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Real-time prediction pipeline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Advanced autoencoder refinement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Multi-model ensemble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Live sensor integration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Interactive dashboard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Alert notification system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Automated response triggers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Cloud deployment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</a:defRPr>
            </a:pPr>
            <a:r>
              <a:t>• Multi-site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📊 Project Metrics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✓ 74/74 pipeline tests passed  |  ✓ 10+ Python modules  |  ✓ 7 analytical artifacts  |  ✓ Production-ready codebase  |  ✓ Comprehensive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